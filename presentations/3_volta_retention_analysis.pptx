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Pre-fix cohorts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52</c:v>
                </c:pt>
                <c:pt idx="2">
                  <c:v>38</c:v>
                </c:pt>
                <c:pt idx="3">
                  <c:v>31</c:v>
                </c:pt>
                <c:pt idx="4">
                  <c:v>26</c:v>
                </c:pt>
                <c:pt idx="5">
                  <c:v>23</c:v>
                </c:pt>
                <c:pt idx="6">
                  <c:v>21</c:v>
                </c:pt>
                <c:pt idx="7">
                  <c:v>19</c:v>
                </c:pt>
                <c:pt idx="8">
                  <c:v>18</c:v>
                </c:pt>
                <c:pt idx="9">
                  <c:v>17</c:v>
                </c:pt>
                <c:pt idx="10">
                  <c:v>16</c:v>
                </c:pt>
                <c:pt idx="11">
                  <c:v>15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Post-fix cohorts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64</c:v>
                </c:pt>
                <c:pt idx="2">
                  <c:v>49</c:v>
                </c:pt>
                <c:pt idx="3">
                  <c:v>41</c:v>
                </c:pt>
                <c:pt idx="4">
                  <c:v>36</c:v>
                </c:pt>
                <c:pt idx="5">
                  <c:v>33</c:v>
                </c:pt>
                <c:pt idx="6">
                  <c:v>31</c:v>
                </c:pt>
                <c:pt idx="7">
                  <c:v>29</c:v>
                </c:pt>
                <c:pt idx="8">
                  <c:v>28</c:v>
                </c:pt>
                <c:pt idx="9">
                  <c:v>27</c:v>
                </c:pt>
                <c:pt idx="10">
                  <c:v>26</c:v>
                </c:pt>
                <c:pt idx="11">
                  <c:v>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Paid Social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57</c:v>
                </c:pt>
                <c:pt idx="2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M3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Paid Social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36</c:v>
                </c:pt>
                <c:pt idx="2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M6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Paid Social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28</c:v>
                </c:pt>
                <c:pt idx="1">
                  <c:v>24</c:v>
                </c:pt>
                <c:pt idx="2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M6 Retention %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Free</c:v>
                  </c:pt>
                  <c:pt idx="1">
                    <c:v>Premium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12-Month LTV (€)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B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Free Pre-fix</c:v>
                  </c:pt>
                  <c:pt idx="1">
                    <c:v>Free Post-fix</c:v>
                  </c:pt>
                  <c:pt idx="2">
                    <c:v>Premium Pre-fix</c:v>
                  </c:pt>
                  <c:pt idx="3">
                    <c:v>Premium Post-fix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11.8</c:v>
                </c:pt>
                <c:pt idx="1">
                  <c:v>15.4</c:v>
                </c:pt>
                <c:pt idx="2">
                  <c:v>31.2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"/>
            <a:ext cx="2926080" cy="5029200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54864"/>
            <a:ext cx="73152" cy="5029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5544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/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Long-Term Impact Measurement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200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long-term retention improvements and LTV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following the KYC progress bar 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731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LTV Projection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Funnel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A/B 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LTV per user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+€220K/year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Step-Change After KYC Fix (Sep 2024)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cohorts show significantly higher retention across all horizons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20240" cy="100584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Pre-fix M1 Retention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before Sep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920240" cy="100584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96012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M1 Retention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791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791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Sep 2024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1828800" cy="100584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6012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078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Lift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13075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+12pp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3659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effect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960120"/>
            <a:ext cx="2148840" cy="100584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9601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1078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Pre→Post M6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02552" y="1307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→ 26%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02552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improvement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2148840"/>
          <a:ext cx="8229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3/4 · Retention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by Channel &amp; Subscription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and Premium are the top retention drivers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Acquisition Channel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2588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Premium Plan (M6 Retention)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32588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0690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Premium plan = #1 retention driver  ·  3× better M6 retention (55% vs 18%)  ·  Exceeds channel differences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priority: Build upgrade funnel for high-intent users in months 1–2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3/4 · Retention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Projection — Business Impact of KYC Fix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lifetime value per user and annualized revenue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01168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LTV (Pre-fix)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€11.8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1737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free user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960120"/>
            <a:ext cx="201168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960120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LTV (Post-fix)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70632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€15.4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770632" y="1737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improvement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201168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6012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LTV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19472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€40.0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919472" y="1737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3.4× vs free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960120"/>
            <a:ext cx="182880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96012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1078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Uplift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68312" y="13075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+€220K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6831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LTV improvement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224028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5669280" y="2240280"/>
            <a:ext cx="3017520" cy="256032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Implications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806440" y="26517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+€3.60 LTV per free user after KYC fix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LTV is 3.4× free LTV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activation improvement compounds over 12 months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uplift from LTV improvement alone: €220K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3/4 · Retention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Insights &amp; Strategic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Project 4: User Segmentation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1115568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97280"/>
            <a:ext cx="3657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retention jumped +10pp after KYC fix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Monitor M6+ as post-fix cohorts mature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114800" cy="1115568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05840"/>
            <a:ext cx="64008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0912" y="1097280"/>
            <a:ext cx="3657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0972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plateaus ~15–20% at M5–M6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5544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 features for loyal core segment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67712"/>
            <a:ext cx="4114800" cy="1115568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67712"/>
            <a:ext cx="64008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2359152"/>
            <a:ext cx="36576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3591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users: best retention at all horizons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1635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Scale referral program (Project 4 priority)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267712"/>
            <a:ext cx="4114800" cy="1115568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267712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0912" y="2359152"/>
            <a:ext cx="365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3591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3× better M6 retention vs free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81635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 premium upgrade funnel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9584"/>
            <a:ext cx="4114800" cy="1115568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9584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3621024"/>
            <a:ext cx="365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362102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LTV per free user after KYC fix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40782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activation improvement compounds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529584"/>
            <a:ext cx="4114800" cy="1115568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529584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10912" y="3621024"/>
            <a:ext cx="3657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0" y="362102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LTV is 3.4× free plan LTV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40782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Push upgrade flows to M1–M2 users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3/4 · Retention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 Neobank — Retention &amp; Cohort Analysis</dc:title>
  <dc:subject>PptxGenJS Presentation</dc:subject>
  <dc:creator>PptxGenJS</dc:creator>
  <cp:lastModifiedBy>PptxGenJS</cp:lastModifiedBy>
  <cp:revision>1</cp:revision>
  <dcterms:created xsi:type="dcterms:W3CDTF">2026-03-17T20:17:04Z</dcterms:created>
  <dcterms:modified xsi:type="dcterms:W3CDTF">2026-03-17T20:17:04Z</dcterms:modified>
</cp:coreProperties>
</file>