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1E4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B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Install</c:v>
                  </c:pt>
                  <c:pt idx="1">
                    <c:v>Register</c:v>
                  </c:pt>
                  <c:pt idx="2">
                    <c:v>KYC Start</c:v>
                  </c:pt>
                  <c:pt idx="3">
                    <c:v>KYC Complete</c:v>
                  </c:pt>
                  <c:pt idx="4">
                    <c:v>Card Order</c:v>
                  </c:pt>
                  <c:pt idx="5">
                    <c:v>First Tx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73.2</c:v>
                </c:pt>
                <c:pt idx="2">
                  <c:v>49.2</c:v>
                </c:pt>
                <c:pt idx="3">
                  <c:v>27.9</c:v>
                </c:pt>
                <c:pt idx="4">
                  <c:v>20</c:v>
                </c:pt>
                <c:pt idx="5">
                  <c:v>12.8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Registration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App Store</c:v>
                  </c:pt>
                  <c:pt idx="3">
                    <c:v>Paid Social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76</c:v>
                </c:pt>
                <c:pt idx="2">
                  <c:v>72</c:v>
                </c:pt>
                <c:pt idx="3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KYC Complete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App Store</c:v>
                  </c:pt>
                  <c:pt idx="3">
                    <c:v>Paid Social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</c:v>
                </c:pt>
                <c:pt idx="1">
                  <c:v>57.5</c:v>
                </c:pt>
                <c:pt idx="2">
                  <c:v>55</c:v>
                </c:pt>
                <c:pt idx="3">
                  <c:v>48.5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First Tx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App Store</c:v>
                  </c:pt>
                  <c:pt idx="3">
                    <c:v>Paid Social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19.2</c:v>
                </c:pt>
                <c:pt idx="1">
                  <c:v>14.1</c:v>
                </c:pt>
                <c:pt idx="2">
                  <c:v>12.8</c:v>
                </c:pt>
                <c:pt idx="3">
                  <c:v>10.5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Activation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iOS</c:v>
                  </c:pt>
                  <c:pt idx="1">
                    <c:v>Android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14.8</c:v>
                </c:pt>
                <c:pt idx="1">
                  <c:v>11.2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KYC Completion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18–24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59.5</c:v>
                </c:pt>
                <c:pt idx="2">
                  <c:v>55</c:v>
                </c:pt>
                <c:pt idx="3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KYC Completion Rate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Control</c:v>
                  </c:pt>
                  <c:pt idx="1">
                    <c:v>Treatment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56.6</c:v>
                </c:pt>
                <c:pt idx="1">
                  <c:v>61.4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 (pp)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Age 35–44</c:v>
                  </c:pt>
                  <c:pt idx="1">
                    <c:v>Android</c:v>
                  </c:pt>
                  <c:pt idx="2">
                    <c:v>Overall</c:v>
                  </c:pt>
                  <c:pt idx="3">
                    <c:v>iOS</c:v>
                  </c:pt>
                  <c:pt idx="4">
                    <c:v>Age 18–24</c:v>
                  </c:pt>
                  <c:pt idx="5">
                    <c:v>Age 45+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</c:v>
                </c:pt>
                <c:pt idx="1">
                  <c:v>7.9</c:v>
                </c:pt>
                <c:pt idx="2">
                  <c:v>4.8</c:v>
                </c:pt>
                <c:pt idx="3">
                  <c:v>3.9</c:v>
                </c:pt>
                <c:pt idx="4">
                  <c:v>3.3</c:v>
                </c:pt>
                <c:pt idx="5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Pre-fix cohorts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52</c:v>
                </c:pt>
                <c:pt idx="2">
                  <c:v>38</c:v>
                </c:pt>
                <c:pt idx="3">
                  <c:v>31</c:v>
                </c:pt>
                <c:pt idx="4">
                  <c:v>26</c:v>
                </c:pt>
                <c:pt idx="5">
                  <c:v>23</c:v>
                </c:pt>
                <c:pt idx="6">
                  <c:v>21</c:v>
                </c:pt>
                <c:pt idx="7">
                  <c:v>19</c:v>
                </c:pt>
                <c:pt idx="8">
                  <c:v>18</c:v>
                </c:pt>
                <c:pt idx="9">
                  <c:v>17</c:v>
                </c:pt>
                <c:pt idx="10">
                  <c:v>16</c:v>
                </c:pt>
                <c:pt idx="11">
                  <c:v>15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Post-fix cohorts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64</c:v>
                </c:pt>
                <c:pt idx="2">
                  <c:v>49</c:v>
                </c:pt>
                <c:pt idx="3">
                  <c:v>41</c:v>
                </c:pt>
                <c:pt idx="4">
                  <c:v>36</c:v>
                </c:pt>
                <c:pt idx="5">
                  <c:v>33</c:v>
                </c:pt>
                <c:pt idx="6">
                  <c:v>31</c:v>
                </c:pt>
                <c:pt idx="7">
                  <c:v>29</c:v>
                </c:pt>
                <c:pt idx="8">
                  <c:v>28</c:v>
                </c:pt>
                <c:pt idx="9">
                  <c:v>27</c:v>
                </c:pt>
                <c:pt idx="10">
                  <c:v>26</c:v>
                </c:pt>
                <c:pt idx="11">
                  <c:v>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57</c:v>
                </c:pt>
                <c:pt idx="2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M3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36</c:v>
                </c:pt>
                <c:pt idx="2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M6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Paid Social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28</c:v>
                </c:pt>
                <c:pt idx="1">
                  <c:v>24</c:v>
                </c:pt>
                <c:pt idx="2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M6 Retention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Free Plan</c:v>
                  </c:pt>
                  <c:pt idx="1">
                    <c:v>Premium Plan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LTV (€)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Free Pre-fix</c:v>
                  </c:pt>
                  <c:pt idx="1">
                    <c:v>Free Post-fix</c:v>
                  </c:pt>
                  <c:pt idx="2">
                    <c:v>Premium Pre-fix</c:v>
                  </c:pt>
                  <c:pt idx="3">
                    <c:v>Premium Post-fix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11.8</c:v>
                </c:pt>
                <c:pt idx="1">
                  <c:v>15.4</c:v>
                </c:pt>
                <c:pt idx="2">
                  <c:v>31.2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6217920" cy="7543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 ·  A/B Testing  ·  Retention &amp; LTV  ·  User Segmentation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502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521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795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drop-off &amp; bottlenecks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92240" y="1280160"/>
            <a:ext cx="1920240" cy="0"/>
          </a:xfrm>
          <a:prstGeom prst="line">
            <a:avLst/>
          </a:prstGeom>
          <a:noFill/>
          <a:ln w="6350">
            <a:solidFill>
              <a:srgbClr val="2D3E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Progress Bar experiment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92240" y="2359152"/>
            <a:ext cx="1920240" cy="0"/>
          </a:xfrm>
          <a:prstGeom prst="line">
            <a:avLst/>
          </a:prstGeom>
          <a:noFill/>
          <a:ln w="6350">
            <a:solidFill>
              <a:srgbClr val="2D3E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660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2679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LTV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&amp; value uplift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3438144"/>
            <a:ext cx="1920240" cy="0"/>
          </a:xfrm>
          <a:prstGeom prst="line">
            <a:avLst/>
          </a:prstGeom>
          <a:noFill/>
          <a:ln w="6350">
            <a:solidFill>
              <a:srgbClr val="2D3E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95160" y="3758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40325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&amp; monetization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44805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Digital Banking · Eastern Europe  ·  2024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ROI: +€480K/year  ·  9.6× on €50K investment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interconnected analyses · 1 product improvement loop · €480K annual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600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06984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+4.82pp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" y="149047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Lift (A/B Test)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20824" y="960120"/>
            <a:ext cx="1600200" cy="914400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93976" y="106984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+12pp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93976" y="149047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Retention Uplift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21608" y="960120"/>
            <a:ext cx="1600200" cy="914400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106984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94760" y="149047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per Free User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22392" y="960120"/>
            <a:ext cx="16002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95544" y="106984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€480K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95544" y="149047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Impact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23176" y="960120"/>
            <a:ext cx="16002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1069848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96328" y="149047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€50K invest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1031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10312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bottleneck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56.6%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9768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31720" y="306324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59736" y="21031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59736" y="2103120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9464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9464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9464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+4.82pp lift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569464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71416" y="306324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99432" y="21031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9432" y="210312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LTV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LTV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+€220K/year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0916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11112" y="306324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739128" y="21031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39128" y="210312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8856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48856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48856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€40K/mo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48856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Product Analytics Portfolio · Executive Summary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/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Funnel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drop-off bottlenecks across 6 funnel stages · 50,000 app installs · 4 channels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01168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768096"/>
            <a:ext cx="186537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93192" y="1162202"/>
            <a:ext cx="186537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Increase YoY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78024" y="658368"/>
            <a:ext cx="2011680" cy="868680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51176" y="768096"/>
            <a:ext cx="186537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51176" y="1162202"/>
            <a:ext cx="186537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Activation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36008" y="658368"/>
            <a:ext cx="20116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768096"/>
            <a:ext cx="186537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162202"/>
            <a:ext cx="186537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 per User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93992" y="658368"/>
            <a:ext cx="2011680" cy="868680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768096"/>
            <a:ext cx="186537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18–44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67144" y="1162202"/>
            <a:ext cx="186537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(age)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91640"/>
            <a:ext cx="4160520" cy="2651760"/>
          </a:xfrm>
          <a:prstGeom prst="rect">
            <a:avLst/>
          </a:prstGeom>
          <a:solidFill>
            <a:srgbClr val="FFF7F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CAC increased 34% YoY while activation rates stagnated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Only ~13% of app installs complete first transaction within 7 days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Multiple funnel stages are losing users without clear root cause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Revenue impact of each drop-off is unknown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691640"/>
            <a:ext cx="4160520" cy="26517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Where exactly do users drop off in the funnel?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606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Which segments have the highest drop-off rates?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108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is the revenue impact of each drop-off point?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611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Which improvements would have the highest ROI?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Onboarding Funnel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from app install to first transaction  ·  50,000 users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98448" y="868680"/>
            <a:ext cx="1426464" cy="530352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941832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89888" y="116128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0" y="9966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08176" y="1545336"/>
            <a:ext cx="1207008" cy="53035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618488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99616" y="1837944"/>
            <a:ext cx="1069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36,600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16733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08760" y="2221992"/>
            <a:ext cx="1005840" cy="53035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29514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5146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24,600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0" y="23500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9344" y="2898648"/>
            <a:ext cx="80467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0784" y="297180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00784" y="3191256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13,950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0" y="3026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09928" y="3575304"/>
            <a:ext cx="603504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01368" y="3648456"/>
            <a:ext cx="466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Ordered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01368" y="3867912"/>
            <a:ext cx="466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0" y="3703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83080" y="4251960"/>
            <a:ext cx="45720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43251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45445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31920" y="43799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13632" y="2194560"/>
            <a:ext cx="15544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22311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BIGGEST DROP-OFF</a:t>
            </a:r>
            <a:endParaRPr lang="en-US" sz="8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754880" y="804672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320040" y="4800600"/>
            <a:ext cx="8503920" cy="34747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" y="4837176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KYC completion (56.6% step rate) is the #1 bottleneck — responsible for the largest user drop in absolute numbers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Performance by Acquisition Channel &amp; Segment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→ KYC → First Tx by Channel (%)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6868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212080" y="594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vs Android — Activation Rate (%)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166360" y="868680"/>
          <a:ext cx="3657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21208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Completion by Age Group (%)</a:t>
            </a:r>
            <a:endParaRPr lang="en-US" sz="10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5166360" y="2560320"/>
          <a:ext cx="3657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320040" y="3337560"/>
            <a:ext cx="4754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20040" y="3337560"/>
            <a:ext cx="6400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57200" y="3374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Referral #1 channel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51460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 end-to-end activation — best LTV users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20040" y="3730752"/>
            <a:ext cx="4754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20040" y="3730752"/>
            <a:ext cx="6400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3767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Paid Social weakest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2514600" y="3776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 activation — reallocate budget to referral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20040" y="4123944"/>
            <a:ext cx="4754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1A2F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20040" y="4123944"/>
            <a:ext cx="64008" cy="347472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160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iOS leads Android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514600" y="4169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3.6pp gap at every funnel step — Android QA sprint needed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20040" y="4517136"/>
            <a:ext cx="4754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20040" y="4517136"/>
            <a:ext cx="64008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4553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45+ group at risk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2514600" y="4562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KYC vs 62% for 18–24 — photo friction likely cause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Recommendations &amp; Proposed A/B Tests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business impact and implementation feasibility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601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IMPACT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143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Progress Bar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362456"/>
            <a:ext cx="3977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KYC UX with step-by-step progress indicator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+5pp lift target → +€340K annual 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Test → Ship (Project 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64008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9601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IMPACT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73168" y="11430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Activation Nudge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362456"/>
            <a:ext cx="3977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on card arrival + €2 cashback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card→first Tx drop-off (63.7%)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lift: +3pp at card→Tx stage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231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2316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5146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HIGH IMPACT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" y="26974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Registration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2916936"/>
            <a:ext cx="3977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phone number field, email-only signup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registration drop from 26.8% → ~20%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 improvement: +~1.5pp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23160"/>
            <a:ext cx="64008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5146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MED IMPACT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73168" y="26974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Referral Program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2916936"/>
            <a:ext cx="3977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 referral bonus + budget realloc. from paid social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LTV channel, lower CAC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Potential: +2pp overall activation rate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977640"/>
            <a:ext cx="850392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Expected combined impact:  KYC 56.6% → 61.6%  ·  Registration 73.2% → 80%  ·  End-to-end activation 13% → 18.5%  ·  +~€400K/year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1/4 · Funnel Analysis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/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Progress Bar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controlled trial · 50/50 split · 28 days · MDE +5pp · Power 80%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 &amp; Primary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743200" cy="2194560"/>
          </a:xfrm>
          <a:prstGeom prst="rect">
            <a:avLst/>
          </a:prstGeom>
          <a:solidFill>
            <a:srgbClr val="FFF7F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KYC 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progress indicator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Blank header above 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unaware of total steps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Baseline: 56.6% completion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1880" y="658368"/>
            <a:ext cx="2743200" cy="21945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749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GROUP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005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+ Progress 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Step-by-step bar at top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4904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"Step 1 of 4" indicator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4904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Checkmarks for completed steps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4904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Tested lift: +5pp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658368"/>
            <a:ext cx="22860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777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749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1280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43800" y="1252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1755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+4.82pp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2940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43800" y="2258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&lt;0.0001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20040" y="2999232"/>
          <a:ext cx="36576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416052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Details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16052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Lift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40680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+8.5%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160520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40680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16052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440680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[+2.1%, +7.5%]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160520" y="4114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440680" y="4114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160520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Check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440680" y="4389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537960" y="2999232"/>
            <a:ext cx="228600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29400" y="3154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SHIP THE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629400" y="39502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Z=4.67 · p&lt;0.0001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37× dev cost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2/4 · A/B Testing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 &amp; Business Impact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treatment effects · Revenue projections · Deployment decision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686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40680" y="868680"/>
            <a:ext cx="16916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13832" y="978408"/>
            <a:ext cx="154533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513832" y="1372514"/>
            <a:ext cx="154533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KYC/month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269480" y="868680"/>
            <a:ext cx="1691640" cy="868680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42632" y="978408"/>
            <a:ext cx="154533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42632" y="1372514"/>
            <a:ext cx="154533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Users/mo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40680" y="1874520"/>
            <a:ext cx="1691640" cy="868680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13832" y="1984248"/>
            <a:ext cx="154533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+€46K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513832" y="2378354"/>
            <a:ext cx="154533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69480" y="1874520"/>
            <a:ext cx="16916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42632" y="1984248"/>
            <a:ext cx="1545336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+€551K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342632" y="2378354"/>
            <a:ext cx="154533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40680" y="2926080"/>
            <a:ext cx="3520440" cy="15087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3017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Checklist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77840" y="3310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Statistical significance (p &lt; 0.05)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35112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Minimum lift achieved (≥ +5pp)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0" y="3712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SRM detected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77840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Covariate balance confirmed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77840" y="4114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 ROI (37× dev cost)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3703320"/>
            <a:ext cx="5029200" cy="34747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37398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Age 35–44 gains most (+8.4pp) — progress bar reduces uncertainty for complex users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" y="4096512"/>
            <a:ext cx="5029200" cy="34747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133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Android users benefit most (+7.9pp) — addresses gap found in Project 1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0040" y="4489704"/>
            <a:ext cx="5029200" cy="347472"/>
          </a:xfrm>
          <a:prstGeom prst="rect">
            <a:avLst/>
          </a:prstGeom>
          <a:solidFill>
            <a:srgbClr val="E6FAF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" y="45262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45+ group: minimal lift (+2.2pp) — separate solution needed (video tutorial / live chat)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2/4 · A/B Testing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/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long-term impact of KYC fix · LTV projection · +€220K/year · Builds on P1 + P2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Step-Change After KYC Fix (Sep 2024)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cohorts show significantly higher retention across all time horizons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011680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978408"/>
            <a:ext cx="1865376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" y="1335390"/>
            <a:ext cx="1865376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Pre-fix M1 Retention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78024" y="868680"/>
            <a:ext cx="201168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51176" y="978408"/>
            <a:ext cx="1865376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51176" y="1335390"/>
            <a:ext cx="1865376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M1 Retention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36008" y="868680"/>
            <a:ext cx="2011680" cy="804672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978408"/>
            <a:ext cx="1865376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+12pp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1335390"/>
            <a:ext cx="1865376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Lift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93992" y="868680"/>
            <a:ext cx="201168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67144" y="978408"/>
            <a:ext cx="1865376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17%→26%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67144" y="1335390"/>
            <a:ext cx="1865376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Pre→Post M6 Retention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20040" y="1828800"/>
          <a:ext cx="8503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3/4 · Retention Analysis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Drivers &amp; LTV Projection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by Acquisition Channel (%)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6868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617720" y="5943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 Premium — M6 Retention (%)</a:t>
            </a:r>
            <a:endParaRPr lang="en-US" sz="10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617720" y="86868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2004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LTV per User (€)</a:t>
            </a:r>
            <a:endParaRPr lang="en-US" sz="10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320040" y="3502152"/>
          <a:ext cx="50292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40680" y="3429000"/>
            <a:ext cx="10789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5440680" y="3429000"/>
            <a:ext cx="10789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532120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= #1 driver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532120" y="384048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better M6 retention (55% vs 18%)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upgrade funnel for M1-M2 users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6611112" y="3429000"/>
            <a:ext cx="10789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611112" y="3429000"/>
            <a:ext cx="10789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702552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LTV post-fix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702552" y="384048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+€3.60 per free user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uplift: €220K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7781544" y="3429000"/>
            <a:ext cx="10789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81544" y="3429000"/>
            <a:ext cx="1078992" cy="64008"/>
          </a:xfrm>
          <a:prstGeom prst="rect">
            <a:avLst/>
          </a:prstGeom>
          <a:solidFill>
            <a:srgbClr val="1A2F52"/>
          </a:solidFill>
          <a:ln w="12700">
            <a:solidFill>
              <a:srgbClr val="1A2F5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872984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best channel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872984" y="384048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M6 vs 17% paid social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program (Project 4 priority)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3/4 · Retention Analysis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/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Monetization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· PCA · RFM-style segmentation · €40K/month opportunity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Segments — K-Means Clustering Deep Dive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behavioral features · StandardScaler · Elbow at K=4 · PCA: 62% variance explained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users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728216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43456" y="1481328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43456" y="1728216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57144" y="1481328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57144" y="1728216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9768" y="1920240"/>
            <a:ext cx="3941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spenders, high engagement, premium subscribers. Core revenue engine.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84124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41248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78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Users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2344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users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481328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73168" y="1728216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86856" y="1481328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86856" y="1728216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00544" y="1481328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00544" y="1728216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3168" y="1920240"/>
            <a:ext cx="3941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savings-oriented, moderate frequency. Prime upgrade targets.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907792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07792"/>
            <a:ext cx="4160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449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3547872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9768" y="3794760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43456" y="3547872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743456" y="3794760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57144" y="3547872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057144" y="3794760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9768" y="3986784"/>
            <a:ext cx="3941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engagement, sporadic transactions. Need onboarding nudges to activate.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907792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907792"/>
            <a:ext cx="4160520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0449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Users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users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3547872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73168" y="3794760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86856" y="3547872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086856" y="3794760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Ret.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00544" y="3547872"/>
            <a:ext cx="1313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00544" y="3794760"/>
            <a:ext cx="1313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73168" y="3986784"/>
            <a:ext cx="3941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accounts, minimal activity. Re-engagement campaign or graceful exit.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4/4 · Segmentation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Monetization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product and marketing approach for each of the 4 segments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950976"/>
            <a:ext cx="12618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81528" y="9692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Program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Exclusive VIP badge + premium features ribbon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6367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Personal finance insights + concierge support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Annual plan discount to lock in loyalty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Retain €22 ARPU · Reduce churn risk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41248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950976"/>
            <a:ext cx="12618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9692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Nudge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2984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Savings goal prompt + in-app notifications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16367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30-day free Premium trial at month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19751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Feature showcase: investments, budgeting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Upgrade to Premium · +€13 ARPU potential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44368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63240" y="3054096"/>
            <a:ext cx="126187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81528" y="307238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4015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Simplified 2-step onboarding re-entry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7398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Weekly summary email with spending insights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0782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 premium feature trial (no payment)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Increase tx frequency · Move to Growth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94436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944368"/>
            <a:ext cx="416052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054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Users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06640" y="3054096"/>
            <a:ext cx="1261872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307238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4015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 win-back + €5 app credit offer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7398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Personalized new features highlight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40782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Option: pause account or graceful delete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Reactivate or reduce infra cost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690872"/>
            <a:ext cx="8503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Total Monetization Opportunity:  €40K/month  ·  €480K/year  ·  9.6× ROI on €50K investment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4/4 · Segmentation &amp; Monetization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Data-Driven Product Loop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projects · 4 skills · Complete analytics lifecycle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02336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44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912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929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bottleneck at 56.6%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Prioritized which feature to build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44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73752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929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+4.82pp lift, p&lt;0.0001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73752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Enabled confident full rollout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02336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Cohort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3575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LTV, +€220K/year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912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Quantified long-term ROI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02336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3752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73752" y="3575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segments, €40K/mo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73752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Data-backed monetization strategy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159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74320" y="2743200"/>
            <a:ext cx="4023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2743200"/>
            <a:ext cx="4023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1596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ROI: +€480K/year  ·  9.6× on €50K investment  ·  Discover → Validate → Measure → Optimize → Iterate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 Neobank — Product Analytics Portfolio</dc:title>
  <dc:subject>PptxGenJS Presentation</dc:subject>
  <dc:creator>Product Analytics Portfolio</dc:creator>
  <cp:lastModifiedBy>Product Analytics Portfolio</cp:lastModifiedBy>
  <cp:revision>1</cp:revision>
  <dcterms:created xsi:type="dcterms:W3CDTF">2026-03-18T07:31:10Z</dcterms:created>
  <dcterms:modified xsi:type="dcterms:W3CDTF">2026-03-18T07:31:10Z</dcterms:modified>
</cp:coreProperties>
</file>