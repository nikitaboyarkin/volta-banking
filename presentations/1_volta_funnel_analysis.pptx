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Referral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Registration</c:v>
                  </c:pt>
                  <c:pt idx="1">
                    <c:v>KYC Complete</c:v>
                  </c:pt>
                  <c:pt idx="2">
                    <c:v>First 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</c:v>
                </c:pt>
                <c:pt idx="1">
                  <c:v>63</c:v>
                </c:pt>
                <c:pt idx="2">
                  <c:v>19.2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Organic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Registration</c:v>
                  </c:pt>
                  <c:pt idx="1">
                    <c:v>KYC Complete</c:v>
                  </c:pt>
                  <c:pt idx="2">
                    <c:v>First 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</c:v>
                </c:pt>
                <c:pt idx="1">
                  <c:v>57.5</c:v>
                </c:pt>
                <c:pt idx="2">
                  <c:v>14.1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App Store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Registration</c:v>
                  </c:pt>
                  <c:pt idx="1">
                    <c:v>KYC Complete</c:v>
                  </c:pt>
                  <c:pt idx="2">
                    <c:v>First Tx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72</c:v>
                </c:pt>
                <c:pt idx="1">
                  <c:v>55</c:v>
                </c:pt>
                <c:pt idx="2">
                  <c:v>12.8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Paid Social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Registration</c:v>
                  </c:pt>
                  <c:pt idx="1">
                    <c:v>KYC Complete</c:v>
                  </c:pt>
                  <c:pt idx="2">
                    <c:v>First Tx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66</c:v>
                </c:pt>
                <c:pt idx="1">
                  <c:v>48.5</c:v>
                </c:pt>
                <c:pt idx="2">
                  <c:v>10.5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29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Activation Rate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iOS</c:v>
                  </c:pt>
                  <c:pt idx="1">
                    <c:v>Android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14.8</c:v>
                </c:pt>
                <c:pt idx="1">
                  <c:v>11.2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9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KYC Completion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18–24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59.5</c:v>
                </c:pt>
                <c:pt idx="2">
                  <c:v>55</c:v>
                </c:pt>
                <c:pt idx="3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9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"/>
            <a:ext cx="2926080" cy="5029200"/>
          </a:xfrm>
          <a:prstGeom prst="rect">
            <a:avLst/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54864"/>
            <a:ext cx="73152" cy="5029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5544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/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Product Analytics Portfolio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200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drop-off bottlenecks and high-impact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across the user activation funnel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731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Digital Banking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Type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· Segmentation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funnel stages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acquisition channels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 groups · 2 devices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920240" cy="109728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Increase YoY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acquisition rising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1920240" cy="109728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96012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Activation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791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791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installs → 1st transaction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1920240" cy="109728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6012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 per User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365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 benchmark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960120"/>
            <a:ext cx="1920240" cy="109728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96012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939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18–44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939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Eastern Europe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286000"/>
            <a:ext cx="3931920" cy="246888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26974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increased 34% YoY while activation rates stagnated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~13% of app installs complete first transaction within 7 days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funnel stages are losing users without clear root cause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of each drop-off is unknown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2286000"/>
            <a:ext cx="4023360" cy="246888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395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269748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do users drop off in the funnel?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segments have the highest drop-off rates?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revenue impact of each drop-off point?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improvements would have the highest ROI?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1/4 · Funnel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Onboarding Funnel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 from app install to first transaction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68580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6812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88352" y="9692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9692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27048"/>
            <a:ext cx="5020056" cy="365760"/>
          </a:xfrm>
          <a:prstGeom prst="rect">
            <a:avLst/>
          </a:prstGeom>
          <a:solidFill>
            <a:srgbClr val="0E8A9E"/>
          </a:solidFill>
          <a:ln w="12700">
            <a:solidFill>
              <a:srgbClr val="0E8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36192"/>
            <a:ext cx="4974336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50408" y="15361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08776" y="15361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36,600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93976"/>
            <a:ext cx="3374136" cy="365760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3328416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04488" y="21031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62856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24,600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60904"/>
            <a:ext cx="191338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70048"/>
            <a:ext cx="186766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Complete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43734" y="26700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2102" y="2670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13,950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27832"/>
            <a:ext cx="1371600" cy="365760"/>
          </a:xfrm>
          <a:prstGeom prst="rect">
            <a:avLst/>
          </a:prstGeom>
          <a:solidFill>
            <a:srgbClr val="E07B0A"/>
          </a:solidFill>
          <a:ln w="12700">
            <a:solidFill>
              <a:srgbClr val="E07B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36976"/>
            <a:ext cx="1325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Ordered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01952" y="32369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32369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7782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03904"/>
            <a:ext cx="832104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08176" y="38039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66544" y="38039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2103120"/>
            <a:ext cx="1463040" cy="777240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12140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BIGGEST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F29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5445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KYC completion (56.6% step rate) is the #1 bottleneck — responsible for the largest user drop in absolute numbers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1/4 · Funnel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Performance by Acquisition Channel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Registration → KYC → Activation across channels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14400"/>
            <a:ext cx="2743200" cy="347472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005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3716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converts best end-to-end (19.2% activation)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worst performer — 10.5% activation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5–8pp gap between referral &amp; paid social channels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gap persists across all channels (48–63%)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solidFill>
            <a:srgbClr val="0F294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5445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H5 VALIDATED: Referral produces best-quality users — highest LTV channel | Recommendation: Scale referral program (+€10 bonus)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1/4 · Funnel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&amp; Age Group Segmentation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vs Android · KYC completion by demographic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vs Android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2588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3.6pp gap — iOS outperforms Android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funnel step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6344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Completion by Age Group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32588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663440" y="3703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drops 17pp below 18–24 cohort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photo friction is the likely cause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4206240"/>
            <a:ext cx="3931920" cy="658368"/>
          </a:xfrm>
          <a:prstGeom prst="rect">
            <a:avLst/>
          </a:prstGeom>
          <a:solidFill>
            <a:srgbClr val="0F29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42519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Dedicated Android QA sprint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device-specific UX bugs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4206240"/>
            <a:ext cx="4023360" cy="658368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00600" y="42519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In-app document photo assistant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for 45+ users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1/4 · Funnel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Recommendations &amp; Proposed A/B Tests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by business impact and feasibility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1508760"/>
          </a:xfrm>
          <a:prstGeom prst="rect">
            <a:avLst/>
          </a:prstGeom>
          <a:solidFill>
            <a:srgbClr val="0F294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51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Progress Bar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554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KYC UX with step-by-step progress indicator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+5pp lift target → +€340K annual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114800" cy="1508760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51760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Registration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" y="3246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phone number field, email-only signup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reg drop from 26.8% → ~20%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960120"/>
            <a:ext cx="4114800" cy="1508760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960120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1051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10912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Activation Nudge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10912" y="1554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on card arrival + €2 cashback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card→first Tx drop-off (63.7%)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651760"/>
            <a:ext cx="4114800" cy="1508760"/>
          </a:xfrm>
          <a:prstGeom prst="rect">
            <a:avLst/>
          </a:prstGeom>
          <a:solidFill>
            <a:srgbClr val="0F294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5176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10912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Referral Program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10912" y="3246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 referral bonus + budget reallocation from paid social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LTV channel, lower CAC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solidFill>
            <a:srgbClr val="0F294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4622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Expected impact if all implemented: KYC 56.6% → 61.6%  ·  Registration 73.2% → 80%  ·  End-to-end activation 13% → 18.5%  ·  +~€400K/year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1/4 · Funnel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Volta Neobank — Onboarding Funnel Analysis</dc:title>
  <dc:subject>PptxGenJS Presentation</dc:subject>
  <dc:creator>PptxGenJS</dc:creator>
  <cp:lastModifiedBy>PptxGenJS</cp:lastModifiedBy>
  <cp:revision>1</cp:revision>
  <dcterms:created xsi:type="dcterms:W3CDTF">2026-03-17T20:17:04Z</dcterms:created>
  <dcterms:modified xsi:type="dcterms:W3CDTF">2026-03-17T20:17:04Z</dcterms:modified>
</cp:coreProperties>
</file>